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1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onsolas"/>
              </a:rPr>
              <a:t>PHARMA DIGITAL MANUFACTURING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31720"/>
            <a:ext cx="105156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200" b="1">
                <a:solidFill>
                  <a:srgbClr val="ECEFF1"/>
                </a:solidFill>
                <a:latin typeface="Calibri"/>
              </a:rPr>
              <a:t>PharmaDMI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515600" cy="640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800" b="0">
                <a:solidFill>
                  <a:srgbClr val="B0BEC5"/>
                </a:solidFill>
                <a:latin typeface="Calibri"/>
              </a:rPr>
              <a:t>Real-time plant monitoring, anomaly detection, and open-source AI assistant</a:t>
            </a:r>
          </a:p>
          <a:p>
            <a:pPr algn="l"/>
            <a:r>
              <a:rPr sz="1800" b="0">
                <a:solidFill>
                  <a:srgbClr val="B0BEC5"/>
                </a:solidFill>
                <a:latin typeface="Calibri"/>
              </a:rPr>
              <a:t>for a pharmaceutical manufacturing facility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754880"/>
            <a:ext cx="1874519" cy="411480"/>
          </a:xfrm>
          <a:prstGeom prst="roundRect">
            <a:avLst/>
          </a:prstGeom>
          <a:solidFill>
            <a:srgbClr val="4FC3F7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>
                <a:solidFill>
                  <a:srgbClr val="0E141B"/>
                </a:solidFill>
                <a:latin typeface="Calibri"/>
              </a:rPr>
              <a:t>.NET 8 Microservices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79" y="4754880"/>
            <a:ext cx="1874519" cy="411480"/>
          </a:xfrm>
          <a:prstGeom prst="roundRect">
            <a:avLst/>
          </a:prstGeom>
          <a:solidFill>
            <a:srgbClr val="1F2A36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>
                <a:solidFill>
                  <a:srgbClr val="ECEFF1"/>
                </a:solidFill>
                <a:latin typeface="Calibri"/>
              </a:rPr>
              <a:t>SQLite + EF 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58" y="4754880"/>
            <a:ext cx="1874519" cy="411480"/>
          </a:xfrm>
          <a:prstGeom prst="roundRect">
            <a:avLst/>
          </a:prstGeom>
          <a:solidFill>
            <a:srgbClr val="81C784"/>
          </a:solidFill>
          <a:ln w="9525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>
                <a:solidFill>
                  <a:srgbClr val="0E141B"/>
                </a:solidFill>
                <a:latin typeface="Calibri"/>
              </a:rPr>
              <a:t>Open-Source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37" y="4754880"/>
            <a:ext cx="1874519" cy="411480"/>
          </a:xfrm>
          <a:prstGeom prst="roundRect">
            <a:avLst/>
          </a:prstGeom>
          <a:solidFill>
            <a:srgbClr val="1F2A36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>
                <a:solidFill>
                  <a:srgbClr val="ECEFF1"/>
                </a:solidFill>
                <a:latin typeface="Calibri"/>
              </a:rPr>
              <a:t>Docker + Compose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16" y="4754880"/>
            <a:ext cx="1874519" cy="411480"/>
          </a:xfrm>
          <a:prstGeom prst="roundRect">
            <a:avLst/>
          </a:prstGeom>
          <a:solidFill>
            <a:srgbClr val="1F2A36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100" b="1">
                <a:solidFill>
                  <a:srgbClr val="ECEFF1"/>
                </a:solidFill>
                <a:latin typeface="Calibri"/>
              </a:rPr>
              <a:t>Swagger / OpenAPI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430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ECEFF1"/>
                </a:solidFill>
                <a:latin typeface="Calibri"/>
              </a:rPr>
              <a:t>Architecture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Three .NET 8 microservices + a static SPA + a pluggable AI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11000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114800" y="1463040"/>
            <a:ext cx="3931920" cy="640080"/>
          </a:xfrm>
          <a:prstGeom prst="roundRect">
            <a:avLst/>
          </a:prstGeom>
          <a:solidFill>
            <a:srgbClr val="1F2A36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0" y="1554480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400" b="1">
                <a:solidFill>
                  <a:srgbClr val="ECEFF1"/>
                </a:solidFill>
                <a:latin typeface="Calibri"/>
              </a:rPr>
              <a:t>👤  Operator (Web Browser)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240280"/>
            <a:ext cx="3931920" cy="548640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3931920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ECEFF1"/>
                </a:solidFill>
                <a:latin typeface="Consolas"/>
              </a:rPr>
              <a:t>angular-ui/index.html  (Dashboard + AI Chat)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3017520"/>
            <a:ext cx="3840480" cy="1737360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3017520"/>
            <a:ext cx="73152" cy="173736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4FC3F7"/>
                </a:solidFill>
                <a:latin typeface="Consolas"/>
              </a:rPr>
              <a:t>TelemetryService :5001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36576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• TelemetrySimulator</a:t>
            </a:r>
          </a:p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• /api/machines</a:t>
            </a:r>
          </a:p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• /api/telemetry</a:t>
            </a:r>
          </a:p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• SQLite + EF Core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3017520"/>
            <a:ext cx="3840480" cy="1737360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160520" y="3017520"/>
            <a:ext cx="73152" cy="1737360"/>
          </a:xfrm>
          <a:prstGeom prst="rect">
            <a:avLst/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43400" y="310896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FFD54F"/>
                </a:solidFill>
                <a:latin typeface="Consolas"/>
              </a:rPr>
              <a:t>AlertService :5002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474720"/>
            <a:ext cx="36576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• AnomalyDetector</a:t>
            </a:r>
          </a:p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• /api/alerts</a:t>
            </a:r>
          </a:p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• threshold rules</a:t>
            </a:r>
          </a:p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• SQLite + EF 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3017520"/>
            <a:ext cx="3840480" cy="1737360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55279" y="3017520"/>
            <a:ext cx="73152" cy="1737360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59" y="310896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300" b="1">
                <a:solidFill>
                  <a:srgbClr val="81C784"/>
                </a:solidFill>
                <a:latin typeface="Consolas"/>
              </a:rPr>
              <a:t>InsightService :5003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3474720"/>
            <a:ext cx="3657600" cy="12801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• InsightsController</a:t>
            </a:r>
          </a:p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• /api/insights/query</a:t>
            </a:r>
          </a:p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• Multi-AI backend chain</a:t>
            </a:r>
          </a:p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• Open-source default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5029200"/>
            <a:ext cx="5760720" cy="1280160"/>
          </a:xfrm>
          <a:prstGeom prst="roundRect">
            <a:avLst/>
          </a:prstGeom>
          <a:solidFill>
            <a:srgbClr val="1F2A36"/>
          </a:solidFill>
          <a:ln w="9525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0" y="5120640"/>
            <a:ext cx="576072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300" b="1">
                <a:solidFill>
                  <a:srgbClr val="81C784"/>
                </a:solidFill>
                <a:latin typeface="Calibri"/>
              </a:rPr>
              <a:t>AI Backend Chain — first to answer wins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5486400"/>
            <a:ext cx="5760720" cy="8686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100" b="0">
                <a:solidFill>
                  <a:srgbClr val="ECEFF1"/>
                </a:solidFill>
                <a:latin typeface="Consolas"/>
              </a:rPr>
              <a:t>Anthropic Claude  →  Ollama (local OSS)  →  Hugging Face  →  Pollinations (default, no key)  →  Rule engine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2103120"/>
            <a:ext cx="0" cy="137160"/>
          </a:xfrm>
          <a:prstGeom prst="line">
            <a:avLst/>
          </a:prstGeom>
          <a:ln w="1905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2286000" y="2788920"/>
            <a:ext cx="3794760" cy="228600"/>
          </a:xfrm>
          <a:prstGeom prst="line">
            <a:avLst/>
          </a:prstGeom>
          <a:ln w="1524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80760" y="2788920"/>
            <a:ext cx="0" cy="228600"/>
          </a:xfrm>
          <a:prstGeom prst="line">
            <a:avLst/>
          </a:prstGeom>
          <a:ln w="1524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80760" y="2788920"/>
            <a:ext cx="3794760" cy="228600"/>
          </a:xfrm>
          <a:prstGeom prst="line">
            <a:avLst/>
          </a:prstGeom>
          <a:ln w="15240">
            <a:solidFill>
              <a:srgbClr val="4FC3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286000" y="4754880"/>
            <a:ext cx="3794760" cy="274320"/>
          </a:xfrm>
          <a:prstGeom prst="line">
            <a:avLst/>
          </a:prstGeom>
          <a:ln w="15240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080760" y="4754880"/>
            <a:ext cx="0" cy="274320"/>
          </a:xfrm>
          <a:prstGeom prst="line">
            <a:avLst/>
          </a:prstGeom>
          <a:ln w="15240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6080760" y="4754880"/>
            <a:ext cx="3794760" cy="274320"/>
          </a:xfrm>
          <a:prstGeom prst="line">
            <a:avLst/>
          </a:prstGeom>
          <a:ln w="15240">
            <a:solidFill>
              <a:srgbClr val="81C78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Calibri"/>
              </a:rPr>
              <a:t>PharmaDMI — Digital Manufacturing Intelligence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0BEC5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430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ECEFF1"/>
                </a:solidFill>
                <a:latin typeface="Calibri"/>
              </a:rPr>
              <a:t>Microservices in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Each service has a single, well-bounded responsibility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11000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74552" cy="1417320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2194560" cy="411480"/>
          </a:xfrm>
          <a:prstGeom prst="roundRect">
            <a:avLst/>
          </a:prstGeom>
          <a:solidFill>
            <a:srgbClr val="4FC3F7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300" b="1">
                <a:solidFill>
                  <a:srgbClr val="0E141B"/>
                </a:solidFill>
                <a:latin typeface="Calibri"/>
              </a:rPr>
              <a:t>TelemetryService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691640"/>
            <a:ext cx="2286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onsolas"/>
              </a:rPr>
              <a:t>:5001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B0BEC5"/>
                </a:solidFill>
                <a:latin typeface="Calibri"/>
              </a:rPr>
              <a:t>Sensor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94560"/>
            <a:ext cx="81381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Simulates OPC-UA / SCADA feed every 5s for 5 machines; persists readings to SQLite; exposes /api/machines, /api/telemetry, /api/telemetry/summary.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11274552" cy="1417320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40080" y="3246120"/>
            <a:ext cx="2194560" cy="411480"/>
          </a:xfrm>
          <a:prstGeom prst="roundRect">
            <a:avLst/>
          </a:prstGeom>
          <a:solidFill>
            <a:srgbClr val="FFD54F"/>
          </a:solidFill>
          <a:ln w="9525">
            <a:solidFill>
              <a:srgbClr val="FFD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300" b="1">
                <a:solidFill>
                  <a:srgbClr val="0E141B"/>
                </a:solidFill>
                <a:latin typeface="Calibri"/>
              </a:rPr>
              <a:t>AlertService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246120"/>
            <a:ext cx="2286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FD54F"/>
                </a:solidFill>
                <a:latin typeface="Consolas"/>
              </a:rPr>
              <a:t>:5002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49040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B0BEC5"/>
                </a:solidFill>
                <a:latin typeface="Calibri"/>
              </a:rPr>
              <a:t>Detection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3749040"/>
            <a:ext cx="81381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Polls TelemetryService every 8s, evaluates machine-specific thresholds (Warning/Critical), generates Alert rows with pre-canned root-cause text; 2-min dedupe.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11274552" cy="1417320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" y="4800600"/>
            <a:ext cx="2194560" cy="411480"/>
          </a:xfrm>
          <a:prstGeom prst="roundRect">
            <a:avLst/>
          </a:prstGeom>
          <a:solidFill>
            <a:srgbClr val="81C784"/>
          </a:solidFill>
          <a:ln w="9525">
            <a:solidFill>
              <a:srgbClr val="81C78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8288" rIns="73152" bIns="18288" rtlCol="0" anchor="ctr"/>
          <a:lstStyle/>
          <a:p>
            <a:pPr algn="ctr"/>
            <a:r>
              <a:rPr sz="1300" b="1">
                <a:solidFill>
                  <a:srgbClr val="0E141B"/>
                </a:solidFill>
                <a:latin typeface="Calibri"/>
              </a:rPr>
              <a:t>InsightService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800600"/>
            <a:ext cx="2286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81C784"/>
                </a:solidFill>
                <a:latin typeface="Consolas"/>
              </a:rPr>
              <a:t>:5003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03520"/>
            <a:ext cx="27432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1">
                <a:solidFill>
                  <a:srgbClr val="B0BEC5"/>
                </a:solidFill>
                <a:latin typeface="Calibri"/>
              </a:rPr>
              <a:t>Intelligence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303520"/>
            <a:ext cx="8138160" cy="7772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Aggregates live telemetry + alerts as context, sends to LLM, returns natural-language answers. Multi-backend AI chain. Adds /diagnostics endpoint.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Calibri"/>
              </a:rPr>
              <a:t>PharmaDMI — Digital Manufacturing Intelligence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0BEC5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430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ECEFF1"/>
                </a:solidFill>
                <a:latin typeface="Calibri"/>
              </a:rPr>
              <a:t>Tech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Deliberately lean — chosen for zero-friction demos and clean upgrade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11000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274552" cy="365760"/>
          </a:xfrm>
          <a:prstGeom prst="rect">
            <a:avLst/>
          </a:prstGeom>
          <a:solidFill>
            <a:srgbClr val="1F2A36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91056"/>
            <a:ext cx="3200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4FC3F7"/>
                </a:solidFill>
                <a:latin typeface="Consolas"/>
              </a:rPr>
              <a:t>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591056"/>
            <a:ext cx="4114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4FC3F7"/>
                </a:solidFill>
                <a:latin typeface="Consolas"/>
              </a:rPr>
              <a:t>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591056"/>
            <a:ext cx="38404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4FC3F7"/>
                </a:solidFill>
                <a:latin typeface="Consolas"/>
              </a:rPr>
              <a:t>WHY IT'S THERE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11274552" cy="384048"/>
          </a:xfrm>
          <a:prstGeom prst="rect">
            <a:avLst/>
          </a:prstGeom>
          <a:solidFill>
            <a:srgbClr val="16202A"/>
          </a:solidFill>
          <a:ln w="9525">
            <a:solidFill>
              <a:srgbClr val="162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020824"/>
            <a:ext cx="3200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CEFF1"/>
                </a:solidFill>
                <a:latin typeface="Calibri"/>
              </a:rPr>
              <a:t>Backend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020824"/>
            <a:ext cx="4114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ECEFF1"/>
                </a:solidFill>
                <a:latin typeface="Calibri"/>
              </a:rPr>
              <a:t>.NET 8 (C#)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020824"/>
            <a:ext cx="38404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Async, fast, single-file builds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50008"/>
            <a:ext cx="11274552" cy="384048"/>
          </a:xfrm>
          <a:prstGeom prst="rect">
            <a:avLst/>
          </a:prstGeom>
          <a:solidFill>
            <a:srgbClr val="1F2A36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404872"/>
            <a:ext cx="3200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CEFF1"/>
                </a:solidFill>
                <a:latin typeface="Calibri"/>
              </a:rPr>
              <a:t>API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404872"/>
            <a:ext cx="4114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ECEFF1"/>
                </a:solidFill>
                <a:latin typeface="Calibri"/>
              </a:rPr>
              <a:t>ASP.NET Core Web API + Swashbuckle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404872"/>
            <a:ext cx="38404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Built-in routing, DI, Swagger UI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34056"/>
            <a:ext cx="11274552" cy="384048"/>
          </a:xfrm>
          <a:prstGeom prst="rect">
            <a:avLst/>
          </a:prstGeom>
          <a:solidFill>
            <a:srgbClr val="16202A"/>
          </a:solidFill>
          <a:ln w="9525">
            <a:solidFill>
              <a:srgbClr val="162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2788920"/>
            <a:ext cx="3200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CEFF1"/>
                </a:solidFill>
                <a:latin typeface="Calibri"/>
              </a:rPr>
              <a:t>Background Workers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2788920"/>
            <a:ext cx="4114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ECEFF1"/>
                </a:solidFill>
                <a:latin typeface="Calibri"/>
              </a:rPr>
              <a:t>BackgroundService (hosted services)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788920"/>
            <a:ext cx="38404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Telemetry simulator + anomaly detector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118104"/>
            <a:ext cx="11274552" cy="384048"/>
          </a:xfrm>
          <a:prstGeom prst="rect">
            <a:avLst/>
          </a:prstGeom>
          <a:solidFill>
            <a:srgbClr val="1F2A36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172968"/>
            <a:ext cx="3200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CEFF1"/>
                </a:solidFill>
                <a:latin typeface="Calibri"/>
              </a:rPr>
              <a:t>Persistence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3172968"/>
            <a:ext cx="4114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ECEFF1"/>
                </a:solidFill>
                <a:latin typeface="Calibri"/>
              </a:rPr>
              <a:t>Entity Framework Core 8 + SQLite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172968"/>
            <a:ext cx="38404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Zero-config file DB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502152"/>
            <a:ext cx="11274552" cy="384048"/>
          </a:xfrm>
          <a:prstGeom prst="rect">
            <a:avLst/>
          </a:prstGeom>
          <a:solidFill>
            <a:srgbClr val="16202A"/>
          </a:solidFill>
          <a:ln w="9525">
            <a:solidFill>
              <a:srgbClr val="162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557016"/>
            <a:ext cx="3200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CEFF1"/>
                </a:solidFill>
                <a:latin typeface="Calibri"/>
              </a:rPr>
              <a:t>Inter-service Comms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3557016"/>
            <a:ext cx="4114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ECEFF1"/>
                </a:solidFill>
                <a:latin typeface="Calibri"/>
              </a:rPr>
              <a:t>HTTP + JSON (IHttpClientFactory)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3557016"/>
            <a:ext cx="38404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Demo-friendly polling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86200"/>
            <a:ext cx="11274552" cy="384048"/>
          </a:xfrm>
          <a:prstGeom prst="rect">
            <a:avLst/>
          </a:prstGeom>
          <a:solidFill>
            <a:srgbClr val="1F2A36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941064"/>
            <a:ext cx="3200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CEFF1"/>
                </a:solidFill>
                <a:latin typeface="Calibri"/>
              </a:rPr>
              <a:t>AI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49039" y="3941064"/>
            <a:ext cx="4114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ECEFF1"/>
                </a:solidFill>
                <a:latin typeface="Calibri"/>
              </a:rPr>
              <a:t>Multi-backend HTTP client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941064"/>
            <a:ext cx="38404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Claude / Ollama / HF / Pollinations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4270248"/>
            <a:ext cx="11274552" cy="384048"/>
          </a:xfrm>
          <a:prstGeom prst="rect">
            <a:avLst/>
          </a:prstGeom>
          <a:solidFill>
            <a:srgbClr val="16202A"/>
          </a:solidFill>
          <a:ln w="9525">
            <a:solidFill>
              <a:srgbClr val="162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8640" y="4325112"/>
            <a:ext cx="3200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CEFF1"/>
                </a:solidFill>
                <a:latin typeface="Calibri"/>
              </a:rPr>
              <a:t>Default AI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39" y="4325112"/>
            <a:ext cx="4114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ECEFF1"/>
                </a:solidFill>
                <a:latin typeface="Calibri"/>
              </a:rPr>
              <a:t>Pollinations.ai — Llama / Qwen / Mistral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4325112"/>
            <a:ext cx="38404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Open-source, free, no key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654296"/>
            <a:ext cx="11274552" cy="384048"/>
          </a:xfrm>
          <a:prstGeom prst="rect">
            <a:avLst/>
          </a:prstGeom>
          <a:solidFill>
            <a:srgbClr val="1F2A36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4709160"/>
            <a:ext cx="3200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CEFF1"/>
                </a:solidFill>
                <a:latin typeface="Calibri"/>
              </a:rPr>
              <a:t>Frontend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4709160"/>
            <a:ext cx="4114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ECEFF1"/>
                </a:solidFill>
                <a:latin typeface="Calibri"/>
              </a:rPr>
              <a:t>Plain HTML5 + CSS + vanilla JS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709160"/>
            <a:ext cx="38404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Single static file, no build step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038344"/>
            <a:ext cx="11274552" cy="384048"/>
          </a:xfrm>
          <a:prstGeom prst="rect">
            <a:avLst/>
          </a:prstGeom>
          <a:solidFill>
            <a:srgbClr val="16202A"/>
          </a:solidFill>
          <a:ln w="9525">
            <a:solidFill>
              <a:srgbClr val="1620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5093208"/>
            <a:ext cx="3200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CEFF1"/>
                </a:solidFill>
                <a:latin typeface="Calibri"/>
              </a:rPr>
              <a:t>Containerization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49039" y="5093208"/>
            <a:ext cx="4114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ECEFF1"/>
                </a:solidFill>
                <a:latin typeface="Calibri"/>
              </a:rPr>
              <a:t>Docker + Docker Compose + nginx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5093208"/>
            <a:ext cx="38404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Production-style packaging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422392"/>
            <a:ext cx="11274552" cy="384048"/>
          </a:xfrm>
          <a:prstGeom prst="rect">
            <a:avLst/>
          </a:prstGeom>
          <a:solidFill>
            <a:srgbClr val="1F2A36"/>
          </a:solidFill>
          <a:ln w="9525">
            <a:solidFill>
              <a:srgbClr val="1F2A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5477256"/>
            <a:ext cx="3200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1">
                <a:solidFill>
                  <a:srgbClr val="ECEFF1"/>
                </a:solidFill>
                <a:latin typeface="Calibri"/>
              </a:rPr>
              <a:t>API Docs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49039" y="5477256"/>
            <a:ext cx="41148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ECEFF1"/>
                </a:solidFill>
                <a:latin typeface="Calibri"/>
              </a:rPr>
              <a:t>Swagger / OpenAPI per service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863840" y="5477256"/>
            <a:ext cx="384048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100" b="0">
                <a:solidFill>
                  <a:srgbClr val="B0BEC5"/>
                </a:solidFill>
                <a:latin typeface="Calibri"/>
              </a:rPr>
              <a:t>/swagger on each port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Calibri"/>
              </a:rPr>
              <a:t>PharmaDMI — Digital Manufacturing Intelligence Platform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0BEC5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430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ECEFF1"/>
                </a:solidFill>
                <a:latin typeface="Calibri"/>
              </a:rPr>
              <a:t>Business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Why this matters to plant managers, ops directors, and compliance teams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11000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74552" cy="841248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719072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0">
                <a:solidFill>
                  <a:srgbClr val="4FC3F7"/>
                </a:solidFill>
                <a:latin typeface="Calibri"/>
              </a:rPr>
              <a:t>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64208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ECEFF1"/>
                </a:solidFill>
                <a:latin typeface="Calibri"/>
              </a:rPr>
              <a:t>Faster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993392"/>
            <a:ext cx="1024128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Continuous 5-second telemetry capture and 8-second anomaly scans — incidents are spotted before batches are spoiled.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11274552" cy="841248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633472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0">
                <a:solidFill>
                  <a:srgbClr val="4FC3F7"/>
                </a:solidFill>
                <a:latin typeface="Calibri"/>
              </a:rPr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578608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ECEFF1"/>
                </a:solidFill>
                <a:latin typeface="Calibri"/>
              </a:rPr>
              <a:t>Lower Loss per Incident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07792"/>
            <a:ext cx="1024128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Pre-canned root-cause hints cut MTTR by guiding operators to the likely cause without senior-engineer escalation.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83280"/>
            <a:ext cx="11274552" cy="841248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547872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0">
                <a:solidFill>
                  <a:srgbClr val="4FC3F7"/>
                </a:solidFill>
                <a:latin typeface="Calibri"/>
              </a:rPr>
              <a:t>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93008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ECEFF1"/>
                </a:solidFill>
                <a:latin typeface="Calibri"/>
              </a:rPr>
              <a:t>AI Without Vendor Lock-in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822192"/>
            <a:ext cx="1024128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Open-source LLM by default, no recurring API fees, swap-in path to fully on-prem Ollama for regulated environments.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97680"/>
            <a:ext cx="11274552" cy="841248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4462272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0">
                <a:solidFill>
                  <a:srgbClr val="4FC3F7"/>
                </a:solidFill>
                <a:latin typeface="Calibri"/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07408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ECEFF1"/>
                </a:solidFill>
                <a:latin typeface="Calibri"/>
              </a:rPr>
              <a:t>Compliance-friendly Data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736592"/>
            <a:ext cx="1024128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SQLite-backed history + Swagger APIs make the data auditable and integration-ready for MES, ERP and QA reporting.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212080"/>
            <a:ext cx="11274552" cy="841248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5376672"/>
            <a:ext cx="54864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2200" b="0">
                <a:solidFill>
                  <a:srgbClr val="4FC3F7"/>
                </a:solidFill>
                <a:latin typeface="Calibri"/>
              </a:rPr>
              <a:t>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321808"/>
            <a:ext cx="32918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500" b="1">
                <a:solidFill>
                  <a:srgbClr val="ECEFF1"/>
                </a:solidFill>
                <a:latin typeface="Calibri"/>
              </a:rPr>
              <a:t>Operator Empowerment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650992"/>
            <a:ext cx="10241280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B0BEC5"/>
                </a:solidFill>
                <a:latin typeface="Calibri"/>
              </a:rPr>
              <a:t>Junior staff can query plant status in plain English — broadens who can operate the line safely.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Calibri"/>
              </a:rPr>
              <a:t>PharmaDMI — Digital Manufacturing Intelligence Platform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0BEC5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4300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3000" b="1">
                <a:solidFill>
                  <a:srgbClr val="ECEFF1"/>
                </a:solidFill>
                <a:latin typeface="Calibri"/>
              </a:rPr>
              <a:t>Production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430000" cy="4114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0">
                <a:solidFill>
                  <a:srgbClr val="B0BEC5"/>
                </a:solidFill>
                <a:latin typeface="Calibri"/>
              </a:rPr>
              <a:t>Demo today → plant-ready tomorrow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11000"/>
          </a:xfrm>
          <a:prstGeom prst="rect">
            <a:avLst/>
          </a:prstGeom>
          <a:solidFill>
            <a:srgbClr val="374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2743200" cy="4572000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2743200" cy="7315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4FC3F7"/>
                </a:solidFill>
                <a:latin typeface="Calibri"/>
              </a:rPr>
              <a:t>Data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•  SQLite → PostgreSQL + TimescaleDB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•  Years of historical trending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•  Six Sigma / SPC analytics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554480"/>
            <a:ext cx="2743200" cy="4572000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337560" y="1554480"/>
            <a:ext cx="2743200" cy="73152"/>
          </a:xfrm>
          <a:prstGeom prst="rect">
            <a:avLst/>
          </a:prstGeom>
          <a:solidFill>
            <a:srgbClr val="FFD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20440" y="173736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FFD54F"/>
                </a:solidFill>
                <a:latin typeface="Calibri"/>
              </a:rPr>
              <a:t>Eventing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19456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•  HTTP polling → RabbitMQ / SignalR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69748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•  Push notifications to phones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20040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•  Real-time SCADA fan-out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554480"/>
            <a:ext cx="2743200" cy="4572000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1554480"/>
            <a:ext cx="2743200" cy="73152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73736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81C784"/>
                </a:solidFill>
                <a:latin typeface="Calibri"/>
              </a:rPr>
              <a:t>Intelligence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9456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•  Thresholds → ML predictive maintenance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•  Forecast bearing failure weeks ahead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20040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•  Closed-loop control suggestions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554480"/>
            <a:ext cx="2743200" cy="4572000"/>
          </a:xfrm>
          <a:prstGeom prst="roundRect">
            <a:avLst/>
          </a:prstGeom>
          <a:solidFill>
            <a:srgbClr val="16202A"/>
          </a:solidFill>
          <a:ln w="9525">
            <a:solidFill>
              <a:srgbClr val="3747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098280" y="1554480"/>
            <a:ext cx="2743200" cy="73152"/>
          </a:xfrm>
          <a:prstGeom prst="rect">
            <a:avLst/>
          </a:prstGeom>
          <a:solidFill>
            <a:srgbClr val="EF5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81160" y="173736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EF5350"/>
                </a:solidFill>
                <a:latin typeface="Calibri"/>
              </a:rPr>
              <a:t>Security &amp; 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19456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•  Add JWT + Azure AD SSO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69748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•  Role-based access per plant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200400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200" b="0">
                <a:solidFill>
                  <a:srgbClr val="ECEFF1"/>
                </a:solidFill>
                <a:latin typeface="Calibri"/>
              </a:rPr>
              <a:t>•  Kubernetes (AKS/EKS) + Helm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  <a:latin typeface="Calibri"/>
              </a:rPr>
              <a:t>Same code paths — just swap implementations behind the existing service boundaries.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Calibri"/>
              </a:rPr>
              <a:t>PharmaDMI — Digital Manufacturing Intelligence Platform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/>
            <a:r>
              <a:rPr sz="1000" b="0">
                <a:solidFill>
                  <a:srgbClr val="B0BEC5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81C7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400" b="1">
                <a:solidFill>
                  <a:srgbClr val="81C784"/>
                </a:solidFill>
                <a:latin typeface="Consolas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5156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7200" b="1">
                <a:solidFill>
                  <a:srgbClr val="ECEFF1"/>
                </a:solidFill>
                <a:latin typeface="Calibri"/>
              </a:rPr>
              <a:t>Thank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5156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/>
            <a:r>
              <a:rPr sz="1600" b="0">
                <a:solidFill>
                  <a:srgbClr val="B0BEC5"/>
                </a:solidFill>
                <a:latin typeface="Calibri"/>
              </a:rPr>
              <a:t>PharmaDMI — Real-time monitoring + Open-source AI for pharmaceutical manufacturing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695</Words>
  <Application>Microsoft Office PowerPoint</Application>
  <PresentationFormat>Widescreen</PresentationFormat>
  <Paragraphs>128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Vinod Yadawad</cp:lastModifiedBy>
  <cp:revision>3</cp:revision>
  <dcterms:created xsi:type="dcterms:W3CDTF">2013-01-27T09:14:16Z</dcterms:created>
  <dcterms:modified xsi:type="dcterms:W3CDTF">2026-05-16T07:08:24Z</dcterms:modified>
  <cp:category/>
</cp:coreProperties>
</file>